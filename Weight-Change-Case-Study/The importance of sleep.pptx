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5388" autoAdjust="0"/>
  </p:normalViewPr>
  <p:slideViewPr>
    <p:cSldViewPr snapToGrid="0">
      <p:cViewPr varScale="1">
        <p:scale>
          <a:sx n="45" d="100"/>
          <a:sy n="45" d="100"/>
        </p:scale>
        <p:origin x="30" y="88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</p:spPr>
        <p:txBody>
          <a:bodyPr/>
          <a:lstStyle/>
          <a:p>
            <a:r>
              <a:rPr lang="en-US" dirty="0"/>
              <a:t>The importance of sleep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/>
          <a:lstStyle/>
          <a:p>
            <a:r>
              <a:rPr lang="en-US" dirty="0"/>
              <a:t>Sleep vs. Stress Levels</a:t>
            </a:r>
          </a:p>
          <a:p>
            <a:r>
              <a:rPr lang="en-US" dirty="0"/>
              <a:t>Datasets acquired from Kaggle</a:t>
            </a:r>
          </a:p>
          <a:p>
            <a:r>
              <a:rPr lang="en-US" dirty="0"/>
              <a:t>From user M Abdullah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/>
          <a:lstStyle/>
          <a:p>
            <a:r>
              <a:rPr lang="en-US" dirty="0"/>
              <a:t>Analyzing the data</a:t>
            </a:r>
          </a:p>
        </p:txBody>
      </p:sp>
      <p:pic>
        <p:nvPicPr>
          <p:cNvPr id="14" name="Picture Placeholder 13" descr="A person looking at a piece of paper">
            <a:extLst>
              <a:ext uri="{FF2B5EF4-FFF2-40B4-BE49-F238E27FC236}">
                <a16:creationId xmlns:a16="http://schemas.microsoft.com/office/drawing/2014/main" id="{F28819F3-7D3B-EB42-24FD-3C0BBC596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19" b="119"/>
          <a:stretch/>
        </p:blipFill>
        <p:spPr>
          <a:xfrm>
            <a:off x="6085840" y="-10159"/>
            <a:ext cx="6116320" cy="6868160"/>
          </a:xfr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/>
          <a:lstStyle/>
          <a:p>
            <a:r>
              <a:rPr lang="en-US" dirty="0"/>
              <a:t>Sleep vs. stress levels</a:t>
            </a:r>
          </a:p>
        </p:txBody>
      </p:sp>
      <p:pic>
        <p:nvPicPr>
          <p:cNvPr id="5" name="Picture Placeholder 4" descr="A person smelling a small glass bottle">
            <a:extLst>
              <a:ext uri="{FF2B5EF4-FFF2-40B4-BE49-F238E27FC236}">
                <a16:creationId xmlns:a16="http://schemas.microsoft.com/office/drawing/2014/main" id="{95D91661-037A-ECB3-7904-2C3843A98D9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0394" r="20394"/>
          <a:stretch/>
        </p:blipFill>
        <p:spPr>
          <a:xfrm>
            <a:off x="0" y="-10160"/>
            <a:ext cx="6096000" cy="685800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/>
          <a:lstStyle/>
          <a:p>
            <a:r>
              <a:rPr lang="en-US" dirty="0"/>
              <a:t>Looking into the data to find insights about how to </a:t>
            </a:r>
            <a:r>
              <a:rPr lang="en-US"/>
              <a:t>reduce stress.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Market gap</a:t>
            </a:r>
            <a:r>
              <a:rPr lang="en-US" sz="2000" cap="none" dirty="0"/>
              <a:t>: few, if any, products on the market help customers like we do</a:t>
            </a:r>
            <a:endParaRPr lang="en-US" sz="2000" cap="none" dirty="0">
              <a:cs typeface="Calibri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Customers</a:t>
            </a:r>
            <a:r>
              <a:rPr lang="en-US" sz="2000" cap="none" dirty="0"/>
              <a:t>: 66% of US consumers spend money on multiple products that only partially resolves their issue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Financials</a:t>
            </a:r>
            <a:r>
              <a:rPr lang="en-US" sz="2000" cap="none" dirty="0"/>
              <a:t>: </a:t>
            </a:r>
            <a:r>
              <a:rPr lang="en-US" sz="2000" cap="none" dirty="0">
                <a:ea typeface="+mn-lt"/>
                <a:cs typeface="+mn-lt"/>
              </a:rPr>
              <a:t>millennials account for about a quarter of the $48 billion spent on other products in 2018</a:t>
            </a:r>
            <a:endParaRPr lang="en-US" sz="2000" cap="none" dirty="0">
              <a:cs typeface="Calibri" panose="020F0502020204030204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Costs</a:t>
            </a:r>
            <a:r>
              <a:rPr lang="en-US" sz="2000" cap="none" dirty="0"/>
              <a:t>: loss of productivity costing consumers thousands of dollars </a:t>
            </a:r>
            <a:endParaRPr lang="en-US" sz="2000" cap="none" dirty="0">
              <a:cs typeface="Calibri" panose="020F0502020204030204"/>
            </a:endParaRP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cap="none" dirty="0"/>
              <a:t>Usability</a:t>
            </a:r>
            <a:r>
              <a:rPr lang="en-US" sz="2000" cap="none" dirty="0"/>
              <a:t>: customers want something easy to use that helps make their life easier </a:t>
            </a:r>
            <a:endParaRPr lang="en-US" sz="2000" cap="none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pic>
        <p:nvPicPr>
          <p:cNvPr id="5" name="Picture Placeholder 4" descr="A person standing in a greenhouse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487" b="12487"/>
          <a:stretch/>
        </p:blipFill>
        <p:spPr>
          <a:xfrm>
            <a:off x="0" y="0"/>
            <a:ext cx="609600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r>
              <a:rPr lang="en-US" noProof="1"/>
              <a:t>Online store and market swap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r>
              <a:rPr lang="en-US" noProof="1"/>
              <a:t>Our product is priced below that of other companies on the market</a:t>
            </a:r>
          </a:p>
          <a:p>
            <a:r>
              <a:rPr lang="en-US" noProof="1"/>
              <a:t>Design is simple and easy to use, compared to the complex designs of the competitors</a:t>
            </a:r>
          </a:p>
          <a:p>
            <a:r>
              <a:rPr lang="en-US" noProof="1"/>
              <a:t>Affordability is the main draw for our consumers to our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/>
          <a:lstStyle/>
          <a:p>
            <a:r>
              <a:rPr lang="en-US" noProof="1"/>
              <a:t>Company A product is more expensive</a:t>
            </a:r>
          </a:p>
          <a:p>
            <a:r>
              <a:rPr lang="en-US" noProof="1"/>
              <a:t>Companies B &amp; C product is expensive and inconvenient to use</a:t>
            </a:r>
          </a:p>
          <a:p>
            <a:r>
              <a:rPr lang="en-US" noProof="1"/>
              <a:t>Companies D &amp; E product is affordable, but inconvenient to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</p:spPr>
        <p:txBody>
          <a:bodyPr/>
          <a:lstStyle/>
          <a:p>
            <a:r>
              <a:rPr lang="en-US" dirty="0"/>
              <a:t>Product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310129" cy="3747180"/>
          </a:xfrm>
        </p:spPr>
        <p:txBody>
          <a:bodyPr/>
          <a:lstStyle/>
          <a:p>
            <a:r>
              <a:rPr lang="en-US" dirty="0"/>
              <a:t>Unique</a:t>
            </a:r>
          </a:p>
          <a:p>
            <a:r>
              <a:rPr lang="en-US" dirty="0"/>
              <a:t>First to market</a:t>
            </a:r>
          </a:p>
          <a:p>
            <a:r>
              <a:rPr lang="en-US" dirty="0"/>
              <a:t>Tested</a:t>
            </a:r>
          </a:p>
          <a:p>
            <a:r>
              <a:rPr lang="en-US" dirty="0"/>
              <a:t>Authentic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2018120"/>
            <a:ext cx="6751489" cy="3747180"/>
          </a:xfrm>
        </p:spPr>
        <p:txBody>
          <a:bodyPr/>
          <a:lstStyle/>
          <a:p>
            <a:r>
              <a:rPr lang="en-US" dirty="0"/>
              <a:t>Only product specifically dedicated to this niche market</a:t>
            </a:r>
          </a:p>
          <a:p>
            <a:r>
              <a:rPr lang="en-US" dirty="0"/>
              <a:t>First beautifully designed product that's both stylish and functional</a:t>
            </a:r>
          </a:p>
          <a:p>
            <a:r>
              <a:rPr lang="en-US" dirty="0"/>
              <a:t>Conducted testing with college students in the area</a:t>
            </a:r>
          </a:p>
          <a:p>
            <a:r>
              <a:rPr lang="en-US" dirty="0"/>
              <a:t>Designed with the help and input of experts in the field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181600" cy="3747180"/>
          </a:xfrm>
        </p:spPr>
        <p:txBody>
          <a:bodyPr/>
          <a:lstStyle/>
          <a:p>
            <a:r>
              <a:rPr lang="en-US" b="1" dirty="0"/>
              <a:t>Feb 20XX: </a:t>
            </a:r>
            <a:r>
              <a:rPr lang="en-US" dirty="0"/>
              <a:t>roll out product to high profile or top-level participants to help establish the product</a:t>
            </a:r>
          </a:p>
          <a:p>
            <a:r>
              <a:rPr lang="en-US" b="1" dirty="0"/>
              <a:t>May 20XX: </a:t>
            </a:r>
            <a:r>
              <a:rPr lang="en-US" dirty="0"/>
              <a:t>release the product to the public and monitor press release and social media accounts</a:t>
            </a:r>
          </a:p>
          <a:p>
            <a:r>
              <a:rPr lang="en-US" b="1" dirty="0"/>
              <a:t>Oct 20XX: </a:t>
            </a:r>
            <a:r>
              <a:rPr lang="en-US" dirty="0"/>
              <a:t>gather feedback and adjust product design as necessary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8" name="Picture Placeholder 17" descr="Two people looking at their phones">
            <a:extLst>
              <a:ext uri="{FF2B5EF4-FFF2-40B4-BE49-F238E27FC236}">
                <a16:creationId xmlns:a16="http://schemas.microsoft.com/office/drawing/2014/main" id="{1609D79A-E8EF-302E-E8CA-07C644CE0E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1" r="81"/>
          <a:stretch/>
        </p:blipFill>
        <p:spPr>
          <a:xfrm>
            <a:off x="6076950" y="0"/>
            <a:ext cx="6115050" cy="6868886"/>
          </a:xfrm>
        </p:spPr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1586-1388-197C-1294-83D4DD8529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3299013" cy="3914910"/>
          </a:xfrm>
        </p:spPr>
        <p:txBody>
          <a:bodyPr/>
          <a:lstStyle/>
          <a:p>
            <a:r>
              <a:rPr lang="en-US" dirty="0"/>
              <a:t>Opportunity to build</a:t>
            </a:r>
          </a:p>
          <a:p>
            <a:r>
              <a:rPr lang="en-US" dirty="0"/>
              <a:t>Fully inclusive market</a:t>
            </a:r>
          </a:p>
          <a:p>
            <a:r>
              <a:rPr lang="en-US" dirty="0"/>
              <a:t>Total addressable market</a:t>
            </a:r>
          </a:p>
          <a:p>
            <a:r>
              <a:rPr lang="en-US" noProof="1"/>
              <a:t>Freedom to invent</a:t>
            </a:r>
            <a:endParaRPr lang="en-US" dirty="0"/>
          </a:p>
          <a:p>
            <a:r>
              <a:rPr lang="en-US" noProof="1"/>
              <a:t>Selectively inclusive market</a:t>
            </a:r>
          </a:p>
          <a:p>
            <a:r>
              <a:rPr lang="en-US" noProof="1"/>
              <a:t>Serviceable available market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2EE5D6E7-8306-54E8-220A-099D3B755FFE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2564561545"/>
              </p:ext>
            </p:extLst>
          </p:nvPr>
        </p:nvGraphicFramePr>
        <p:xfrm>
          <a:off x="4602163" y="2017713"/>
          <a:ext cx="6675294" cy="392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272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085272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709739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785097"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Clients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Gross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Net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$7,000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$16,000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$25,000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85097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$40,000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6257366" cy="3914910"/>
          </a:xfrm>
        </p:spPr>
        <p:txBody>
          <a:bodyPr/>
          <a:lstStyle/>
          <a:p>
            <a:r>
              <a:rPr lang="en-US" dirty="0"/>
              <a:t>Our product makes consumer lives easier, and no other product on the market offers the same features</a:t>
            </a:r>
          </a:p>
          <a:p>
            <a:pPr lvl="1"/>
            <a:r>
              <a:rPr lang="en-US" dirty="0"/>
              <a:t>Gen Z (18-25 years old)</a:t>
            </a:r>
          </a:p>
          <a:p>
            <a:pPr lvl="1"/>
            <a:r>
              <a:rPr lang="en-US" dirty="0"/>
              <a:t>Reduce expenses for replacement products </a:t>
            </a:r>
          </a:p>
          <a:p>
            <a:pPr lvl="1"/>
            <a:r>
              <a:rPr lang="en-US" dirty="0"/>
              <a:t>Simple design that gives customers the targeted information they need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967475" y="2018119"/>
            <a:ext cx="2449514" cy="3931919"/>
          </a:xfrm>
        </p:spPr>
        <p:txBody>
          <a:bodyPr/>
          <a:lstStyle/>
          <a:p>
            <a:r>
              <a:rPr lang="en-US" dirty="0"/>
              <a:t>Close the gap</a:t>
            </a:r>
          </a:p>
          <a:p>
            <a:r>
              <a:rPr lang="en-US" dirty="0"/>
              <a:t>Target audience </a:t>
            </a:r>
          </a:p>
          <a:p>
            <a:r>
              <a:rPr lang="en-US" dirty="0"/>
              <a:t>Cost savings</a:t>
            </a:r>
          </a:p>
          <a:p>
            <a:r>
              <a:rPr lang="en-US" dirty="0"/>
              <a:t>Easy to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29977845"/>
              </p:ext>
            </p:extLst>
          </p:nvPr>
        </p:nvGraphicFramePr>
        <p:xfrm>
          <a:off x="923925" y="2009775"/>
          <a:ext cx="10363201" cy="39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555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12882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62010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1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3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Income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price per sale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@ 15%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6201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profit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43</TotalTime>
  <Words>462</Words>
  <Application>Microsoft Office PowerPoint</Application>
  <PresentationFormat>Widescreen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The importance of sleep</vt:lpstr>
      <vt:lpstr>introduction</vt:lpstr>
      <vt:lpstr>Analyzing the data</vt:lpstr>
      <vt:lpstr>Sleep vs. stress levels</vt:lpstr>
      <vt:lpstr>Problem </vt:lpstr>
      <vt:lpstr>Product benefits</vt:lpstr>
      <vt:lpstr>Our competition</vt:lpstr>
      <vt:lpstr>Product overview </vt:lpstr>
      <vt:lpstr>Growth strategy</vt:lpstr>
      <vt:lpstr>Market overview</vt:lpstr>
      <vt:lpstr>Solution</vt:lpstr>
      <vt:lpstr>Financials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pidgeon royal</dc:creator>
  <cp:lastModifiedBy>pidgeon royal</cp:lastModifiedBy>
  <cp:revision>1</cp:revision>
  <dcterms:created xsi:type="dcterms:W3CDTF">2026-02-15T22:07:49Z</dcterms:created>
  <dcterms:modified xsi:type="dcterms:W3CDTF">2026-02-15T22:51:09Z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